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33" userDrawn="1">
          <p15:clr>
            <a:srgbClr val="A4A3A4"/>
          </p15:clr>
        </p15:guide>
        <p15:guide id="2" pos="735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淺色樣式 1 - 輔色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8" autoAdjust="0"/>
    <p:restoredTop sz="94660"/>
  </p:normalViewPr>
  <p:slideViewPr>
    <p:cSldViewPr snapToGrid="0">
      <p:cViewPr varScale="1">
        <p:scale>
          <a:sx n="74" d="100"/>
          <a:sy n="74" d="100"/>
        </p:scale>
        <p:origin x="802" y="77"/>
      </p:cViewPr>
      <p:guideLst>
        <p:guide orient="horz" pos="4133"/>
        <p:guide pos="735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uuu._. Y" userId="19af577c7ce60c68" providerId="LiveId" clId="{AD5E2747-C619-4FBD-AC8D-64A39365E721}"/>
    <pc:docChg chg="modSld">
      <pc:chgData name="yuuu._. Y" userId="19af577c7ce60c68" providerId="LiveId" clId="{AD5E2747-C619-4FBD-AC8D-64A39365E721}" dt="2026-04-24T08:03:15.370" v="11" actId="1076"/>
      <pc:docMkLst>
        <pc:docMk/>
      </pc:docMkLst>
      <pc:sldChg chg="modSp mod">
        <pc:chgData name="yuuu._. Y" userId="19af577c7ce60c68" providerId="LiveId" clId="{AD5E2747-C619-4FBD-AC8D-64A39365E721}" dt="2026-04-24T08:02:43.327" v="10"/>
        <pc:sldMkLst>
          <pc:docMk/>
          <pc:sldMk cId="3714507242" sldId="257"/>
        </pc:sldMkLst>
        <pc:spChg chg="mod">
          <ac:chgData name="yuuu._. Y" userId="19af577c7ce60c68" providerId="LiveId" clId="{AD5E2747-C619-4FBD-AC8D-64A39365E721}" dt="2026-04-24T08:02:43.327" v="10"/>
          <ac:spMkLst>
            <pc:docMk/>
            <pc:sldMk cId="3714507242" sldId="257"/>
            <ac:spMk id="3" creationId="{F6D7BAF8-4A10-7140-23B7-E45B8959B857}"/>
          </ac:spMkLst>
        </pc:spChg>
      </pc:sldChg>
      <pc:sldChg chg="modSp">
        <pc:chgData name="yuuu._. Y" userId="19af577c7ce60c68" providerId="LiveId" clId="{AD5E2747-C619-4FBD-AC8D-64A39365E721}" dt="2026-04-24T08:03:15.370" v="11" actId="1076"/>
        <pc:sldMkLst>
          <pc:docMk/>
          <pc:sldMk cId="37202114" sldId="258"/>
        </pc:sldMkLst>
        <pc:spChg chg="mod">
          <ac:chgData name="yuuu._. Y" userId="19af577c7ce60c68" providerId="LiveId" clId="{AD5E2747-C619-4FBD-AC8D-64A39365E721}" dt="2026-04-24T08:03:15.370" v="11" actId="1076"/>
          <ac:spMkLst>
            <pc:docMk/>
            <pc:sldMk cId="37202114" sldId="258"/>
            <ac:spMk id="7" creationId="{49F0D0CD-5DC4-0698-37F2-9EF4445F0DB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FACF56-D645-4535-BE69-E1D5CA3A3FEC}" type="datetimeFigureOut">
              <a:rPr lang="zh-TW" altLang="en-US" smtClean="0"/>
              <a:t>2026/4/25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DB6D76-1ABE-46A9-976E-DAE5BEA0C86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766375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B6D76-1ABE-46A9-976E-DAE5BEA0C867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27820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47F5A-71E3-4714-BAEE-CB4511E8B619}" type="datetime1">
              <a:rPr lang="zh-TW" altLang="en-US" smtClean="0"/>
              <a:t>2026/4/25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9ED98-D512-4AE2-9A9C-5303722C878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559325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02E7D-76E8-41BA-9830-4A53E9F32287}" type="datetime1">
              <a:rPr lang="zh-TW" altLang="en-US" smtClean="0"/>
              <a:t>2026/4/25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9ED98-D512-4AE2-9A9C-5303722C878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580612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A6FAF-1A74-4EC8-845B-0A8F440D2879}" type="datetime1">
              <a:rPr lang="zh-TW" altLang="en-US" smtClean="0"/>
              <a:t>2026/4/25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9ED98-D512-4AE2-9A9C-5303722C878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189622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97CA0-4092-4420-AF64-FF402F61108E}" type="datetime1">
              <a:rPr lang="zh-TW" altLang="en-US" smtClean="0"/>
              <a:t>2026/4/25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9ED98-D512-4AE2-9A9C-5303722C878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94898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86090-FB70-432E-BAD4-9A22B6421234}" type="datetime1">
              <a:rPr lang="zh-TW" altLang="en-US" smtClean="0"/>
              <a:t>2026/4/25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9ED98-D512-4AE2-9A9C-5303722C878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755950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2D8EB-4F11-4E0A-B0FA-9A93AD9D991D}" type="datetime1">
              <a:rPr lang="zh-TW" altLang="en-US" smtClean="0"/>
              <a:t>2026/4/25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9ED98-D512-4AE2-9A9C-5303722C878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52541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AEBC7-EED9-4B27-B6D4-A9FCA0F9E8CC}" type="datetime1">
              <a:rPr lang="zh-TW" altLang="en-US" smtClean="0"/>
              <a:t>2026/4/25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9ED98-D512-4AE2-9A9C-5303722C878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75975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739E6-E4BA-4D43-8790-EC089C368569}" type="datetime1">
              <a:rPr lang="zh-TW" altLang="en-US" smtClean="0"/>
              <a:t>2026/4/25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9ED98-D512-4AE2-9A9C-5303722C878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12365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8B8CA-132A-4BD1-A001-2DC911E9D351}" type="datetime1">
              <a:rPr lang="zh-TW" altLang="en-US" smtClean="0"/>
              <a:t>2026/4/25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9ED98-D512-4AE2-9A9C-5303722C878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887964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輔助字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701B1-8D4B-4D6D-AA4C-41125C7C982D}" type="datetime1">
              <a:rPr lang="zh-TW" altLang="en-US" smtClean="0"/>
              <a:t>2026/4/25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9ED98-D512-4AE2-9A9C-5303722C878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308143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4D689-2510-4FC5-845F-E5F9EF61FCAF}" type="datetime1">
              <a:rPr lang="zh-TW" altLang="en-US" smtClean="0"/>
              <a:t>2026/4/25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9ED98-D512-4AE2-9A9C-5303722C8782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345240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A92F9-0339-4AE9-961A-24B3AF00EB80}" type="datetime1">
              <a:rPr lang="zh-TW" altLang="en-US" smtClean="0"/>
              <a:t>2026/4/25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9ED98-D512-4AE2-9A9C-5303722C878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533139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8F404-5EAA-458A-A046-B7084CB593DA}" type="datetime1">
              <a:rPr lang="zh-TW" altLang="en-US" smtClean="0"/>
              <a:t>2026/4/25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9ED98-D512-4AE2-9A9C-5303722C8782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67946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是非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C150B-4B1C-4343-8386-221422CA3D7D}" type="datetime1">
              <a:rPr lang="zh-TW" altLang="en-US" smtClean="0"/>
              <a:t>2026/4/25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9ED98-D512-4AE2-9A9C-5303722C878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439511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A05BD-E0E9-43D5-8BF6-824C7C826809}" type="datetime1">
              <a:rPr lang="zh-TW" altLang="en-US" smtClean="0"/>
              <a:t>2026/4/25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9ED98-D512-4AE2-9A9C-5303722C878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854605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EE63F-9F27-47A0-AE83-6491C8981F7E}" type="datetime1">
              <a:rPr lang="zh-TW" altLang="en-US" smtClean="0"/>
              <a:t>2026/4/25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9ED98-D512-4AE2-9A9C-5303722C878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299643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CFE8AE-580D-47C0-9AE8-4E73B760F31F}" type="datetime1">
              <a:rPr lang="zh-TW" altLang="en-US" smtClean="0"/>
              <a:t>2026/4/25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90D9ED98-D512-4AE2-9A9C-5303722C878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39770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898B838-7C16-A315-7C68-5CA915EBAC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22159" y="1387136"/>
            <a:ext cx="9144000" cy="2387600"/>
          </a:xfrm>
        </p:spPr>
        <p:txBody>
          <a:bodyPr/>
          <a:lstStyle/>
          <a:p>
            <a:pPr algn="ctr"/>
            <a:br>
              <a:rPr lang="en-US" altLang="zh-TW" dirty="0"/>
            </a:br>
            <a:r>
              <a:rPr lang="zh-TW" altLang="en-US" dirty="0"/>
              <a:t>題目</a:t>
            </a:r>
            <a:r>
              <a:rPr lang="en-US" altLang="zh-TW" dirty="0"/>
              <a:t>:</a:t>
            </a:r>
            <a:r>
              <a:rPr lang="zh-TW" altLang="en-US" dirty="0"/>
              <a:t>團購系統</a:t>
            </a:r>
            <a:br>
              <a:rPr lang="en-US" altLang="zh-TW" dirty="0"/>
            </a:br>
            <a:r>
              <a:rPr lang="zh-TW" altLang="en-US" dirty="0"/>
              <a:t> 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22FFDB7F-A506-C44B-AD98-FB7E26602D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22159" y="4085947"/>
            <a:ext cx="9144000" cy="1655762"/>
          </a:xfrm>
        </p:spPr>
        <p:txBody>
          <a:bodyPr>
            <a:normAutofit/>
          </a:bodyPr>
          <a:lstStyle/>
          <a:p>
            <a:pPr algn="ctr"/>
            <a:r>
              <a:rPr lang="zh-TW" altLang="en-US" sz="2800" dirty="0"/>
              <a:t>組員</a:t>
            </a:r>
            <a:r>
              <a:rPr lang="en-US" altLang="zh-TW" sz="2800" dirty="0"/>
              <a:t>:</a:t>
            </a:r>
            <a:r>
              <a:rPr lang="zh-TW" altLang="en-US" sz="2800" dirty="0"/>
              <a:t>李彩甄、陳彥妤、鄭又瑄、謝於潔</a:t>
            </a:r>
          </a:p>
        </p:txBody>
      </p:sp>
    </p:spTree>
    <p:extLst>
      <p:ext uri="{BB962C8B-B14F-4D97-AF65-F5344CB8AC3E}">
        <p14:creationId xmlns:p14="http://schemas.microsoft.com/office/powerpoint/2010/main" val="41560000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129E054-5DD0-6733-9E7D-605AD3885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應用情境與使用案例 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6D7BAF8-4A10-7140-23B7-E45B8959B8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sz="2400" dirty="0"/>
              <a:t>應用情境</a:t>
            </a:r>
            <a:endParaRPr lang="en-US" altLang="zh-TW" sz="2400" dirty="0"/>
          </a:p>
          <a:p>
            <a:pPr marL="0" indent="0">
              <a:lnSpc>
                <a:spcPct val="200000"/>
              </a:lnSpc>
              <a:buNone/>
            </a:pPr>
            <a:r>
              <a:rPr lang="zh-TW" altLang="en-US" sz="2400" dirty="0"/>
              <a:t>隨著網路購物盛行，團購成為常見的消費模式，透過團購系統，使用者可以集中購買商品獲得更便宜的價格。</a:t>
            </a:r>
            <a:endParaRPr lang="en-US" altLang="zh-TW" sz="2400" dirty="0"/>
          </a:p>
          <a:p>
            <a:pPr>
              <a:lnSpc>
                <a:spcPct val="150000"/>
              </a:lnSpc>
            </a:pPr>
            <a:r>
              <a:rPr lang="zh-TW" altLang="en-US" sz="2400" dirty="0"/>
              <a:t>使用案例</a:t>
            </a:r>
            <a:endParaRPr lang="en-US" altLang="zh-TW" sz="24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TW" sz="2400" dirty="0"/>
              <a:t>	1.</a:t>
            </a:r>
            <a:r>
              <a:rPr lang="zh-TW" altLang="en-US" sz="2400" dirty="0"/>
              <a:t>加入團購</a:t>
            </a:r>
            <a:r>
              <a:rPr lang="en-US" altLang="zh-TW" sz="2400" dirty="0"/>
              <a:t>:</a:t>
            </a:r>
            <a:endParaRPr lang="zh-TW" altLang="en-US" sz="24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22C6622-8093-805D-F5EF-CFA207BF85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0398" y="4952770"/>
            <a:ext cx="5025852" cy="16886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TW" altLang="zh-TW" sz="2400" dirty="0"/>
              <a:t>使用者瀏覽系統中的團購活動 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TW" altLang="zh-TW" sz="2400" dirty="0"/>
              <a:t>選擇感興趣的團購 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TW" altLang="zh-TW" sz="2400" dirty="0"/>
              <a:t>加入該團 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68D2143-A76E-7E3C-25FA-59F0D671B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54" y="6197226"/>
            <a:ext cx="683339" cy="365125"/>
          </a:xfrm>
        </p:spPr>
        <p:txBody>
          <a:bodyPr/>
          <a:lstStyle/>
          <a:p>
            <a:r>
              <a:rPr lang="en-US" altLang="zh-TW" sz="1200" dirty="0">
                <a:solidFill>
                  <a:schemeClr val="tx1"/>
                </a:solidFill>
              </a:rPr>
              <a:t>1</a:t>
            </a:r>
            <a:endParaRPr lang="zh-TW" alt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45072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4291D0E-6ABE-F175-A021-5F67BF847A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9326" y="1150939"/>
            <a:ext cx="8596668" cy="5164136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TW" sz="2400" dirty="0">
                <a:latin typeface="+mn-ea"/>
              </a:rPr>
              <a:t>2.</a:t>
            </a:r>
            <a:r>
              <a:rPr lang="zh-TW" altLang="en-US" sz="2400" dirty="0">
                <a:latin typeface="+mn-ea"/>
              </a:rPr>
              <a:t>下單購買商品</a:t>
            </a:r>
            <a:r>
              <a:rPr lang="en-US" altLang="zh-TW" sz="2400" dirty="0">
                <a:latin typeface="+mn-ea"/>
              </a:rPr>
              <a:t>: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zh-TW" sz="2400" dirty="0">
              <a:latin typeface="+mn-ea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TW" sz="2400" dirty="0">
              <a:latin typeface="+mn-ea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TW" sz="2400" dirty="0">
              <a:latin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TW" sz="2400" dirty="0">
                <a:latin typeface="+mn-ea"/>
              </a:rPr>
              <a:t>3.</a:t>
            </a:r>
            <a:r>
              <a:rPr lang="zh-TW" altLang="en-US" sz="2400" dirty="0">
                <a:latin typeface="+mn-ea"/>
              </a:rPr>
              <a:t>實際情境</a:t>
            </a:r>
            <a:r>
              <a:rPr lang="en-US" altLang="zh-TW" sz="2400" dirty="0">
                <a:latin typeface="+mn-ea"/>
              </a:rPr>
              <a:t>:</a:t>
            </a:r>
            <a:endParaRPr lang="zh-TW" altLang="en-US" sz="2400" dirty="0">
              <a:latin typeface="+mn-ea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49F0D0CD-5DC4-0698-37F2-9EF4445F0D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0" y="1168403"/>
            <a:ext cx="3416320" cy="16893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TW" altLang="zh-TW" sz="2400" dirty="0">
                <a:latin typeface="+mj-ea"/>
              </a:rPr>
              <a:t>使用者進入團購活動 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TW" altLang="zh-TW" sz="2400" dirty="0">
                <a:latin typeface="+mj-ea"/>
              </a:rPr>
              <a:t>選擇商品與數量 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TW" altLang="zh-TW" sz="2400" dirty="0">
                <a:latin typeface="+mj-ea"/>
              </a:rPr>
              <a:t>建立訂單並送出 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382AEBE2-FF1A-182D-DAFB-E2D22AC9A0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0375" y="3910475"/>
            <a:ext cx="5147563" cy="22433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400" dirty="0">
                <a:latin typeface="+mn-ea"/>
              </a:rPr>
              <a:t>小花想購買洗髮精與衛生紙</a:t>
            </a:r>
            <a:endParaRPr lang="en-US" altLang="zh-TW" sz="2400" dirty="0">
              <a:latin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400" dirty="0">
                <a:latin typeface="+mn-ea"/>
              </a:rPr>
              <a:t>她加入大軒開設的「日常用品團」</a:t>
            </a:r>
            <a:endParaRPr lang="en-US" altLang="zh-TW" sz="2400" dirty="0">
              <a:latin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400" dirty="0">
                <a:latin typeface="+mn-ea"/>
              </a:rPr>
              <a:t>選擇商品與數量</a:t>
            </a:r>
            <a:endParaRPr lang="en-US" altLang="zh-TW" sz="2400" dirty="0">
              <a:latin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400" dirty="0">
                <a:latin typeface="+mn-ea"/>
              </a:rPr>
              <a:t>完成下單並付款</a:t>
            </a:r>
            <a:endParaRPr lang="en-US" altLang="zh-TW" sz="2400" dirty="0">
              <a:latin typeface="+mn-ea"/>
            </a:endParaRP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070DD30A-D2D0-A1FA-8A70-91A6C2D3F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2724" y="6196013"/>
            <a:ext cx="683339" cy="365125"/>
          </a:xfrm>
        </p:spPr>
        <p:txBody>
          <a:bodyPr/>
          <a:lstStyle/>
          <a:p>
            <a:r>
              <a:rPr lang="en-US" altLang="zh-TW" sz="1200" dirty="0">
                <a:solidFill>
                  <a:schemeClr val="tx1"/>
                </a:solidFill>
              </a:rPr>
              <a:t>2</a:t>
            </a:r>
            <a:endParaRPr lang="zh-TW" alt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021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8A88678-09A5-C9BC-E49D-FBA3F4C79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系統需求說明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69DE8E8-1630-2E3B-9ECD-4A57FDCBF5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3069166" cy="388077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TW" altLang="en-US" sz="2400" dirty="0">
                <a:latin typeface="+mn-ea"/>
              </a:rPr>
              <a:t>功能需求</a:t>
            </a:r>
            <a:r>
              <a:rPr lang="en-US" altLang="zh-TW" sz="2400" dirty="0">
                <a:latin typeface="+mn-ea"/>
              </a:rPr>
              <a:t>:</a:t>
            </a:r>
          </a:p>
          <a:p>
            <a:pPr lvl="1">
              <a:lnSpc>
                <a:spcPct val="150000"/>
              </a:lnSpc>
              <a:buFont typeface="+mj-lt"/>
              <a:buAutoNum type="arabicPeriod"/>
            </a:pPr>
            <a:r>
              <a:rPr lang="zh-TW" altLang="en-US" sz="2400" dirty="0">
                <a:latin typeface="+mn-ea"/>
              </a:rPr>
              <a:t>團主 </a:t>
            </a:r>
            <a:endParaRPr lang="en-US" altLang="zh-TW" sz="2400" dirty="0">
              <a:latin typeface="+mn-ea"/>
            </a:endParaRPr>
          </a:p>
          <a:p>
            <a:pPr lvl="1">
              <a:lnSpc>
                <a:spcPct val="150000"/>
              </a:lnSpc>
              <a:buFont typeface="+mj-lt"/>
              <a:buAutoNum type="arabicPeriod"/>
            </a:pPr>
            <a:r>
              <a:rPr lang="zh-TW" altLang="en-US" sz="2400" dirty="0">
                <a:latin typeface="+mn-ea"/>
              </a:rPr>
              <a:t>顧客 </a:t>
            </a:r>
            <a:endParaRPr lang="en-US" altLang="zh-TW" sz="2400" dirty="0">
              <a:latin typeface="+mn-ea"/>
            </a:endParaRPr>
          </a:p>
          <a:p>
            <a:pPr lvl="1">
              <a:lnSpc>
                <a:spcPct val="150000"/>
              </a:lnSpc>
              <a:buFont typeface="+mj-lt"/>
              <a:buAutoNum type="arabicPeriod"/>
            </a:pPr>
            <a:r>
              <a:rPr lang="zh-TW" altLang="en-US" sz="2400" dirty="0">
                <a:latin typeface="+mn-ea"/>
              </a:rPr>
              <a:t>商品 </a:t>
            </a:r>
            <a:endParaRPr lang="en-US" altLang="zh-TW" sz="2400" dirty="0">
              <a:latin typeface="+mn-ea"/>
            </a:endParaRPr>
          </a:p>
          <a:p>
            <a:pPr lvl="1">
              <a:lnSpc>
                <a:spcPct val="150000"/>
              </a:lnSpc>
              <a:buFont typeface="+mj-lt"/>
              <a:buAutoNum type="arabicPeriod"/>
            </a:pPr>
            <a:r>
              <a:rPr lang="zh-TW" altLang="en-US" sz="2400" dirty="0">
                <a:latin typeface="+mn-ea"/>
              </a:rPr>
              <a:t>支付方式 </a:t>
            </a: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0F43916D-B862-7B0C-0780-6F7D4A951FF8}"/>
              </a:ext>
            </a:extLst>
          </p:cNvPr>
          <p:cNvSpPr txBox="1">
            <a:spLocks/>
          </p:cNvSpPr>
          <p:nvPr/>
        </p:nvSpPr>
        <p:spPr>
          <a:xfrm>
            <a:off x="4561417" y="2160589"/>
            <a:ext cx="3069166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TW" altLang="en-US" sz="2400" dirty="0">
                <a:latin typeface="+mn-ea"/>
              </a:rPr>
              <a:t>非功能需求</a:t>
            </a:r>
            <a:r>
              <a:rPr lang="en-US" altLang="zh-TW" sz="2400" dirty="0">
                <a:latin typeface="+mn-ea"/>
              </a:rPr>
              <a:t>:</a:t>
            </a:r>
          </a:p>
          <a:p>
            <a:pPr lvl="1">
              <a:lnSpc>
                <a:spcPct val="150000"/>
              </a:lnSpc>
              <a:buFont typeface="+mj-lt"/>
              <a:buAutoNum type="arabicPeriod"/>
            </a:pPr>
            <a:r>
              <a:rPr lang="zh-TW" altLang="en-US" sz="2400" dirty="0">
                <a:latin typeface="+mn-ea"/>
              </a:rPr>
              <a:t>資料一致性</a:t>
            </a:r>
            <a:endParaRPr lang="en-US" altLang="zh-TW" sz="2400" dirty="0">
              <a:latin typeface="+mn-ea"/>
            </a:endParaRPr>
          </a:p>
          <a:p>
            <a:pPr lvl="1">
              <a:lnSpc>
                <a:spcPct val="150000"/>
              </a:lnSpc>
              <a:buFont typeface="+mj-lt"/>
              <a:buAutoNum type="arabicPeriod"/>
            </a:pPr>
            <a:r>
              <a:rPr lang="zh-TW" altLang="en-US" sz="2400" dirty="0">
                <a:latin typeface="+mn-ea"/>
              </a:rPr>
              <a:t>安全性</a:t>
            </a:r>
            <a:endParaRPr lang="en-US" altLang="zh-TW" sz="2400" dirty="0">
              <a:latin typeface="+mn-ea"/>
            </a:endParaRPr>
          </a:p>
          <a:p>
            <a:pPr lvl="1">
              <a:lnSpc>
                <a:spcPct val="150000"/>
              </a:lnSpc>
              <a:buFont typeface="+mj-lt"/>
              <a:buAutoNum type="arabicPeriod"/>
            </a:pPr>
            <a:r>
              <a:rPr lang="zh-TW" altLang="en-US" sz="2400" dirty="0">
                <a:latin typeface="+mn-ea"/>
              </a:rPr>
              <a:t>易用性 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3EC1892-044B-693B-926A-017F78A7D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2724" y="6196013"/>
            <a:ext cx="683339" cy="365125"/>
          </a:xfrm>
        </p:spPr>
        <p:txBody>
          <a:bodyPr/>
          <a:lstStyle/>
          <a:p>
            <a:r>
              <a:rPr lang="en-US" altLang="zh-TW" sz="1200" dirty="0">
                <a:solidFill>
                  <a:schemeClr val="tx1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5980715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內容版面配置區 3">
            <a:extLst>
              <a:ext uri="{FF2B5EF4-FFF2-40B4-BE49-F238E27FC236}">
                <a16:creationId xmlns:a16="http://schemas.microsoft.com/office/drawing/2014/main" id="{8A6AD494-DC7E-C4F1-2A21-63A917D5CD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13705011"/>
              </p:ext>
            </p:extLst>
          </p:nvPr>
        </p:nvGraphicFramePr>
        <p:xfrm>
          <a:off x="677334" y="2114550"/>
          <a:ext cx="8001000" cy="384048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497878868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1830031185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68067367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4270361178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592987187"/>
                    </a:ext>
                  </a:extLst>
                </a:gridCol>
              </a:tblGrid>
              <a:tr h="768096">
                <a:tc>
                  <a:txBody>
                    <a:bodyPr/>
                    <a:lstStyle/>
                    <a:p>
                      <a:r>
                        <a:rPr lang="zh-TW" altLang="en-US" dirty="0"/>
                        <a:t>實體名稱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屬性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資料類別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限制條件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說明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1971650"/>
                  </a:ext>
                </a:extLst>
              </a:tr>
              <a:tr h="768096">
                <a:tc>
                  <a:txBody>
                    <a:bodyPr/>
                    <a:lstStyle/>
                    <a:p>
                      <a:r>
                        <a:rPr lang="zh-TW" altLang="en-US" dirty="0"/>
                        <a:t>使用者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user_id</a:t>
                      </a:r>
                      <a:r>
                        <a:rPr lang="en-US" altLang="zh-TW" dirty="0"/>
                        <a:t> 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INT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PK,Auto</a:t>
                      </a:r>
                      <a:r>
                        <a:rPr lang="en-US" altLang="zh-TW" dirty="0"/>
                        <a:t> Increment 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key 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9016147"/>
                  </a:ext>
                </a:extLst>
              </a:tr>
              <a:tr h="768096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username 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VARCHAR(50)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NOT NULL 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使用者名稱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0821304"/>
                  </a:ext>
                </a:extLst>
              </a:tr>
              <a:tr h="768096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email 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VARCHAR(100) 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UNIQUE, NOT NULL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電子信箱（不 可重複）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3493774"/>
                  </a:ext>
                </a:extLst>
              </a:tr>
              <a:tr h="768096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role 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ENUM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'Organizer', 'Member' 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密碼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7355237"/>
                  </a:ext>
                </a:extLst>
              </a:tr>
            </a:tbl>
          </a:graphicData>
        </a:graphic>
      </p:graphicFrame>
      <p:sp>
        <p:nvSpPr>
          <p:cNvPr id="6" name="標題 1">
            <a:extLst>
              <a:ext uri="{FF2B5EF4-FFF2-40B4-BE49-F238E27FC236}">
                <a16:creationId xmlns:a16="http://schemas.microsoft.com/office/drawing/2014/main" id="{8EF3CA3C-BAC7-0DB0-1E82-0FA6D9FC4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zh-TW" altLang="en-US" dirty="0"/>
              <a:t>完整性限制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DA2C1325-92BB-F42A-6068-08745F825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2724" y="6196013"/>
            <a:ext cx="683339" cy="365125"/>
          </a:xfrm>
        </p:spPr>
        <p:txBody>
          <a:bodyPr/>
          <a:lstStyle/>
          <a:p>
            <a:fld id="{90D9ED98-D512-4AE2-9A9C-5303722C8782}" type="slidenum">
              <a:rPr lang="zh-TW" altLang="en-US" sz="1200" smtClean="0">
                <a:solidFill>
                  <a:schemeClr val="tx1"/>
                </a:solidFill>
              </a:rPr>
              <a:t>5</a:t>
            </a:fld>
            <a:endParaRPr lang="zh-TW" alt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18928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內容版面配置區 3">
            <a:extLst>
              <a:ext uri="{FF2B5EF4-FFF2-40B4-BE49-F238E27FC236}">
                <a16:creationId xmlns:a16="http://schemas.microsoft.com/office/drawing/2014/main" id="{18D5593B-26EB-CBF2-5D6A-3015593A1BE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72271058"/>
              </p:ext>
            </p:extLst>
          </p:nvPr>
        </p:nvGraphicFramePr>
        <p:xfrm>
          <a:off x="677862" y="914400"/>
          <a:ext cx="7945435" cy="5168901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589087">
                  <a:extLst>
                    <a:ext uri="{9D8B030D-6E8A-4147-A177-3AD203B41FA5}">
                      <a16:colId xmlns:a16="http://schemas.microsoft.com/office/drawing/2014/main" val="1989184752"/>
                    </a:ext>
                  </a:extLst>
                </a:gridCol>
                <a:gridCol w="1589087">
                  <a:extLst>
                    <a:ext uri="{9D8B030D-6E8A-4147-A177-3AD203B41FA5}">
                      <a16:colId xmlns:a16="http://schemas.microsoft.com/office/drawing/2014/main" val="1555732029"/>
                    </a:ext>
                  </a:extLst>
                </a:gridCol>
                <a:gridCol w="1589087">
                  <a:extLst>
                    <a:ext uri="{9D8B030D-6E8A-4147-A177-3AD203B41FA5}">
                      <a16:colId xmlns:a16="http://schemas.microsoft.com/office/drawing/2014/main" val="3298661207"/>
                    </a:ext>
                  </a:extLst>
                </a:gridCol>
                <a:gridCol w="1589087">
                  <a:extLst>
                    <a:ext uri="{9D8B030D-6E8A-4147-A177-3AD203B41FA5}">
                      <a16:colId xmlns:a16="http://schemas.microsoft.com/office/drawing/2014/main" val="2620016980"/>
                    </a:ext>
                  </a:extLst>
                </a:gridCol>
                <a:gridCol w="1589087">
                  <a:extLst>
                    <a:ext uri="{9D8B030D-6E8A-4147-A177-3AD203B41FA5}">
                      <a16:colId xmlns:a16="http://schemas.microsoft.com/office/drawing/2014/main" val="2476629734"/>
                    </a:ext>
                  </a:extLst>
                </a:gridCol>
              </a:tblGrid>
              <a:tr h="845381">
                <a:tc>
                  <a:txBody>
                    <a:bodyPr/>
                    <a:lstStyle/>
                    <a:p>
                      <a:pPr algn="l"/>
                      <a:r>
                        <a:rPr lang="zh-TW" altLang="en-US" dirty="0"/>
                        <a:t>實體名稱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dirty="0"/>
                        <a:t>屬性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dirty="0"/>
                        <a:t>資料類別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dirty="0"/>
                        <a:t>限制條件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dirty="0"/>
                        <a:t>說明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0064662"/>
                  </a:ext>
                </a:extLst>
              </a:tr>
              <a:tr h="845381">
                <a:tc>
                  <a:txBody>
                    <a:bodyPr/>
                    <a:lstStyle/>
                    <a:p>
                      <a:pPr algn="l"/>
                      <a:r>
                        <a:rPr lang="zh-TW" altLang="en-US" dirty="0"/>
                        <a:t>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dirty="0" err="1"/>
                        <a:t>event_id</a:t>
                      </a:r>
                      <a:r>
                        <a:rPr lang="en-US" altLang="zh-TW" dirty="0"/>
                        <a:t> 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dirty="0"/>
                        <a:t>INT 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dirty="0" err="1"/>
                        <a:t>PK,Auto</a:t>
                      </a:r>
                      <a:r>
                        <a:rPr lang="en-US" altLang="zh-TW" dirty="0"/>
                        <a:t> Increment 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dirty="0"/>
                        <a:t>key 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3070522"/>
                  </a:ext>
                </a:extLst>
              </a:tr>
              <a:tr h="845381">
                <a:tc>
                  <a:txBody>
                    <a:bodyPr/>
                    <a:lstStyle/>
                    <a:p>
                      <a:pPr algn="l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dirty="0" err="1"/>
                        <a:t>user_id</a:t>
                      </a:r>
                      <a:r>
                        <a:rPr lang="en-US" altLang="zh-TW" dirty="0"/>
                        <a:t> 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dirty="0"/>
                        <a:t>INT 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dirty="0"/>
                        <a:t>FK 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dirty="0"/>
                        <a:t>關聯到</a:t>
                      </a:r>
                      <a:r>
                        <a:rPr lang="en-US" altLang="zh-TW" dirty="0"/>
                        <a:t>user 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4631030"/>
                  </a:ext>
                </a:extLst>
              </a:tr>
              <a:tr h="845381">
                <a:tc>
                  <a:txBody>
                    <a:bodyPr/>
                    <a:lstStyle/>
                    <a:p>
                      <a:pPr algn="l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dirty="0"/>
                        <a:t>title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dirty="0"/>
                        <a:t>VARCHAR(100)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dirty="0"/>
                        <a:t>NOT NULL 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dirty="0"/>
                        <a:t>團購活動名稱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655562"/>
                  </a:ext>
                </a:extLst>
              </a:tr>
              <a:tr h="845381">
                <a:tc>
                  <a:txBody>
                    <a:bodyPr/>
                    <a:lstStyle/>
                    <a:p>
                      <a:pPr algn="l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dirty="0" err="1"/>
                        <a:t>target_num</a:t>
                      </a:r>
                      <a:r>
                        <a:rPr lang="en-US" altLang="zh-TW" dirty="0"/>
                        <a:t> 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dirty="0"/>
                        <a:t>INT 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dirty="0"/>
                        <a:t>CHECK &gt; 0 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dirty="0"/>
                        <a:t>成團門檻數量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643762"/>
                  </a:ext>
                </a:extLst>
              </a:tr>
              <a:tr h="941996">
                <a:tc>
                  <a:txBody>
                    <a:bodyPr/>
                    <a:lstStyle/>
                    <a:p>
                      <a:pPr algn="l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dirty="0"/>
                        <a:t>status 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dirty="0"/>
                        <a:t>ENUM 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dirty="0"/>
                        <a:t>'Open', 'Success', 'Fail' 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dirty="0"/>
                        <a:t>活動目前狀態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3539937"/>
                  </a:ext>
                </a:extLst>
              </a:tr>
            </a:tbl>
          </a:graphicData>
        </a:graphic>
      </p:graphicFrame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CB96D8B2-E7F0-1B0F-3536-1195053EA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2724" y="6196013"/>
            <a:ext cx="683339" cy="365125"/>
          </a:xfrm>
        </p:spPr>
        <p:txBody>
          <a:bodyPr/>
          <a:lstStyle/>
          <a:p>
            <a:r>
              <a:rPr lang="en-US" altLang="zh-TW" sz="1200" dirty="0">
                <a:solidFill>
                  <a:schemeClr val="tx1"/>
                </a:solidFill>
              </a:rPr>
              <a:t>5</a:t>
            </a:r>
            <a:endParaRPr lang="zh-TW" alt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87126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內容版面配置區 3">
            <a:extLst>
              <a:ext uri="{FF2B5EF4-FFF2-40B4-BE49-F238E27FC236}">
                <a16:creationId xmlns:a16="http://schemas.microsoft.com/office/drawing/2014/main" id="{EBD8B012-F87D-E621-CF1C-12B0F084BB2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05726692"/>
              </p:ext>
            </p:extLst>
          </p:nvPr>
        </p:nvGraphicFramePr>
        <p:xfrm>
          <a:off x="664634" y="1682750"/>
          <a:ext cx="8001000" cy="409575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497878868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1830031185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68067367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4270361178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592987187"/>
                    </a:ext>
                  </a:extLst>
                </a:gridCol>
              </a:tblGrid>
              <a:tr h="819150">
                <a:tc>
                  <a:txBody>
                    <a:bodyPr/>
                    <a:lstStyle/>
                    <a:p>
                      <a:r>
                        <a:rPr lang="zh-TW" altLang="en-US" dirty="0"/>
                        <a:t>實體名稱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屬性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資料類別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限制條件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說明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1971650"/>
                  </a:ext>
                </a:extLst>
              </a:tr>
              <a:tr h="819150">
                <a:tc>
                  <a:txBody>
                    <a:bodyPr/>
                    <a:lstStyle/>
                    <a:p>
                      <a:r>
                        <a:rPr lang="zh-TW" altLang="en-US" dirty="0"/>
                        <a:t>商品 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product_id</a:t>
                      </a:r>
                      <a:r>
                        <a:rPr lang="en-US" altLang="zh-TW" dirty="0"/>
                        <a:t> 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INT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PK,Auto</a:t>
                      </a:r>
                      <a:r>
                        <a:rPr lang="en-US" altLang="zh-TW" dirty="0"/>
                        <a:t> Increment 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key 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9016147"/>
                  </a:ext>
                </a:extLst>
              </a:tr>
              <a:tr h="81915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event_id</a:t>
                      </a:r>
                      <a:r>
                        <a:rPr lang="en-US" altLang="zh-TW" dirty="0"/>
                        <a:t> 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INT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FK 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關聯到</a:t>
                      </a:r>
                      <a:r>
                        <a:rPr lang="en-US" altLang="zh-TW" dirty="0"/>
                        <a:t>event </a:t>
                      </a:r>
                      <a:r>
                        <a:rPr lang="zh-TW" altLang="en-US" dirty="0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0821304"/>
                  </a:ext>
                </a:extLst>
              </a:tr>
              <a:tr h="81915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p_name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VARCHAR(50) 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NOT NULL 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商品名稱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3493774"/>
                  </a:ext>
                </a:extLst>
              </a:tr>
              <a:tr h="81915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price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DECIMAL(10,2) 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CHECK &gt; 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商品單價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7355237"/>
                  </a:ext>
                </a:extLst>
              </a:tr>
            </a:tbl>
          </a:graphicData>
        </a:graphic>
      </p:graphicFrame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80FD34BC-DE27-E453-C6EF-72995C75A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2724" y="6196013"/>
            <a:ext cx="683339" cy="365125"/>
          </a:xfrm>
        </p:spPr>
        <p:txBody>
          <a:bodyPr/>
          <a:lstStyle/>
          <a:p>
            <a:r>
              <a:rPr lang="en-US" altLang="zh-TW" sz="1200" dirty="0">
                <a:solidFill>
                  <a:schemeClr val="tx1"/>
                </a:solidFill>
              </a:rPr>
              <a:t>6</a:t>
            </a:r>
            <a:endParaRPr lang="zh-TW" alt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36276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內容版面配置區 3">
            <a:extLst>
              <a:ext uri="{FF2B5EF4-FFF2-40B4-BE49-F238E27FC236}">
                <a16:creationId xmlns:a16="http://schemas.microsoft.com/office/drawing/2014/main" id="{0305DB1B-DA3A-B81F-B837-1646CCCB44D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04063543"/>
              </p:ext>
            </p:extLst>
          </p:nvPr>
        </p:nvGraphicFramePr>
        <p:xfrm>
          <a:off x="664634" y="1682750"/>
          <a:ext cx="8001000" cy="409575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497878868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1830031185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68067367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4270361178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592987187"/>
                    </a:ext>
                  </a:extLst>
                </a:gridCol>
              </a:tblGrid>
              <a:tr h="819150">
                <a:tc>
                  <a:txBody>
                    <a:bodyPr/>
                    <a:lstStyle/>
                    <a:p>
                      <a:r>
                        <a:rPr lang="zh-TW" altLang="en-US" dirty="0"/>
                        <a:t>實體名稱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屬性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資料類別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限制條件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說明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1971650"/>
                  </a:ext>
                </a:extLst>
              </a:tr>
              <a:tr h="819150">
                <a:tc>
                  <a:txBody>
                    <a:bodyPr/>
                    <a:lstStyle/>
                    <a:p>
                      <a:r>
                        <a:rPr lang="zh-TW" altLang="en-US" dirty="0"/>
                        <a:t>訂單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product_id</a:t>
                      </a:r>
                      <a:r>
                        <a:rPr lang="en-US" altLang="zh-TW" dirty="0"/>
                        <a:t> 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INT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PK,Auto</a:t>
                      </a:r>
                      <a:r>
                        <a:rPr lang="en-US" altLang="zh-TW" dirty="0"/>
                        <a:t> Increment 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key 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9016147"/>
                  </a:ext>
                </a:extLst>
              </a:tr>
              <a:tr h="81915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user_id</a:t>
                      </a:r>
                      <a:r>
                        <a:rPr lang="en-US" altLang="zh-TW" dirty="0"/>
                        <a:t> 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INT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FK 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關聯到</a:t>
                      </a:r>
                      <a:r>
                        <a:rPr lang="en-US" altLang="zh-TW" dirty="0"/>
                        <a:t>user 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0821304"/>
                  </a:ext>
                </a:extLst>
              </a:tr>
              <a:tr h="81915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p_name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DATETIME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DEFAULT Current 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下單時間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3493774"/>
                  </a:ext>
                </a:extLst>
              </a:tr>
              <a:tr h="81915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total_amt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DECIMAL(10,2) 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NOT NULL 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訂單總金額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7355237"/>
                  </a:ext>
                </a:extLst>
              </a:tr>
            </a:tbl>
          </a:graphicData>
        </a:graphic>
      </p:graphicFrame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6769D29E-BA0C-3D9D-AA0B-22E486265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2724" y="6196013"/>
            <a:ext cx="683339" cy="365125"/>
          </a:xfrm>
        </p:spPr>
        <p:txBody>
          <a:bodyPr/>
          <a:lstStyle/>
          <a:p>
            <a:r>
              <a:rPr lang="en-US" altLang="zh-TW" sz="1200" dirty="0">
                <a:solidFill>
                  <a:schemeClr val="tx1"/>
                </a:solidFill>
              </a:rPr>
              <a:t>7</a:t>
            </a:r>
            <a:endParaRPr lang="zh-TW" alt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04583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B39C0AA4-0D5F-1DC7-16F8-041B1F5C08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0593861"/>
              </p:ext>
            </p:extLst>
          </p:nvPr>
        </p:nvGraphicFramePr>
        <p:xfrm>
          <a:off x="584200" y="1595966"/>
          <a:ext cx="8305116" cy="3471336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495338">
                  <a:extLst>
                    <a:ext uri="{9D8B030D-6E8A-4147-A177-3AD203B41FA5}">
                      <a16:colId xmlns:a16="http://schemas.microsoft.com/office/drawing/2014/main" val="264265414"/>
                    </a:ext>
                  </a:extLst>
                </a:gridCol>
                <a:gridCol w="1753154">
                  <a:extLst>
                    <a:ext uri="{9D8B030D-6E8A-4147-A177-3AD203B41FA5}">
                      <a16:colId xmlns:a16="http://schemas.microsoft.com/office/drawing/2014/main" val="153417377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596277362"/>
                    </a:ext>
                  </a:extLst>
                </a:gridCol>
                <a:gridCol w="1897380">
                  <a:extLst>
                    <a:ext uri="{9D8B030D-6E8A-4147-A177-3AD203B41FA5}">
                      <a16:colId xmlns:a16="http://schemas.microsoft.com/office/drawing/2014/main" val="3387782822"/>
                    </a:ext>
                  </a:extLst>
                </a:gridCol>
                <a:gridCol w="1833364">
                  <a:extLst>
                    <a:ext uri="{9D8B030D-6E8A-4147-A177-3AD203B41FA5}">
                      <a16:colId xmlns:a16="http://schemas.microsoft.com/office/drawing/2014/main" val="1141567062"/>
                    </a:ext>
                  </a:extLst>
                </a:gridCol>
              </a:tblGrid>
              <a:tr h="867834">
                <a:tc>
                  <a:txBody>
                    <a:bodyPr/>
                    <a:lstStyle/>
                    <a:p>
                      <a:r>
                        <a:rPr lang="zh-TW" altLang="en-US" dirty="0"/>
                        <a:t>實體名稱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屬性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資料類別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限制條件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說明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7339076"/>
                  </a:ext>
                </a:extLst>
              </a:tr>
              <a:tr h="867834">
                <a:tc>
                  <a:txBody>
                    <a:bodyPr/>
                    <a:lstStyle/>
                    <a:p>
                      <a:r>
                        <a:rPr lang="zh-TW" altLang="en-US" dirty="0"/>
                        <a:t>訂單明細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order_id</a:t>
                      </a:r>
                      <a:r>
                        <a:rPr lang="en-US" altLang="zh-TW" dirty="0"/>
                        <a:t> 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INT 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PK, FK 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關聯到</a:t>
                      </a:r>
                      <a:r>
                        <a:rPr lang="en-US" altLang="zh-TW" dirty="0"/>
                        <a:t>orders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6431613"/>
                  </a:ext>
                </a:extLst>
              </a:tr>
              <a:tr h="867834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product_id</a:t>
                      </a:r>
                      <a:r>
                        <a:rPr lang="en-US" altLang="zh-TW" dirty="0"/>
                        <a:t> 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INT 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PK, FK 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關聯到</a:t>
                      </a:r>
                      <a:r>
                        <a:rPr lang="en-US" altLang="zh-TW" dirty="0"/>
                        <a:t>product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2432351"/>
                  </a:ext>
                </a:extLst>
              </a:tr>
              <a:tr h="867834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quantity 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INT 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NOT NULL, &gt; 0 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商品購買的數量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6017149"/>
                  </a:ext>
                </a:extLst>
              </a:tr>
            </a:tbl>
          </a:graphicData>
        </a:graphic>
      </p:graphicFrame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D2E158DD-5A56-818D-BAAF-6AAE6B95D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2724" y="6196013"/>
            <a:ext cx="683339" cy="365125"/>
          </a:xfrm>
        </p:spPr>
        <p:txBody>
          <a:bodyPr/>
          <a:lstStyle/>
          <a:p>
            <a:r>
              <a:rPr lang="en-US" altLang="zh-TW" sz="1200" dirty="0">
                <a:solidFill>
                  <a:schemeClr val="tx1"/>
                </a:solidFill>
              </a:rPr>
              <a:t>8</a:t>
            </a:r>
            <a:endParaRPr lang="zh-TW" alt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315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4A461F34-F258-2B0A-6E87-B9AF928EBF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296194"/>
              </p:ext>
            </p:extLst>
          </p:nvPr>
        </p:nvGraphicFramePr>
        <p:xfrm>
          <a:off x="660400" y="806449"/>
          <a:ext cx="8128000" cy="5676538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383595785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52263798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78124432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81537235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402251334"/>
                    </a:ext>
                  </a:extLst>
                </a:gridCol>
              </a:tblGrid>
              <a:tr h="701403">
                <a:tc>
                  <a:txBody>
                    <a:bodyPr/>
                    <a:lstStyle/>
                    <a:p>
                      <a:r>
                        <a:rPr lang="zh-TW" altLang="en-US" dirty="0"/>
                        <a:t>實體名稱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屬性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資料類別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限制條件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說明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5382570"/>
                  </a:ext>
                </a:extLst>
              </a:tr>
              <a:tr h="757283">
                <a:tc>
                  <a:txBody>
                    <a:bodyPr/>
                    <a:lstStyle/>
                    <a:p>
                      <a:r>
                        <a:rPr lang="zh-TW" altLang="en-US" dirty="0"/>
                        <a:t>支付方式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pay_id</a:t>
                      </a:r>
                      <a:r>
                        <a:rPr lang="en-US" altLang="zh-TW" dirty="0"/>
                        <a:t> 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INT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PK, FK 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key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7916814"/>
                  </a:ext>
                </a:extLst>
              </a:tr>
              <a:tr h="757283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order_id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INT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PK, FK 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關聯到</a:t>
                      </a:r>
                      <a:r>
                        <a:rPr lang="en-US" altLang="zh-TW" dirty="0"/>
                        <a:t>orders 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4933254"/>
                  </a:ext>
                </a:extLst>
              </a:tr>
              <a:tr h="757283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method 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ENUM 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NOT NULL 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支付方式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9467257"/>
                  </a:ext>
                </a:extLst>
              </a:tr>
              <a:tr h="757283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amount 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DECIMAL(10,2) 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NOT NULL 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實際支付金額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8053758"/>
                  </a:ext>
                </a:extLst>
              </a:tr>
              <a:tr h="757283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status 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ENUM 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DEFAULT 'Pending' 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支付狀態： </a:t>
                      </a:r>
                      <a:r>
                        <a:rPr lang="en-US" altLang="zh-TW" dirty="0"/>
                        <a:t>'Pending', 'Success', 'Failed' 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4014778"/>
                  </a:ext>
                </a:extLst>
              </a:tr>
              <a:tr h="757283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pay_time</a:t>
                      </a:r>
                      <a:r>
                        <a:rPr lang="en-US" altLang="zh-TW" dirty="0"/>
                        <a:t> 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TIMESTAMP 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DEFAULT Current 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支付完成時間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8356559"/>
                  </a:ext>
                </a:extLst>
              </a:tr>
            </a:tbl>
          </a:graphicData>
        </a:graphic>
      </p:graphicFrame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44790967-2F7E-C925-93A6-B87BE1B4C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9633" y="6196013"/>
            <a:ext cx="683339" cy="365125"/>
          </a:xfrm>
        </p:spPr>
        <p:txBody>
          <a:bodyPr/>
          <a:lstStyle/>
          <a:p>
            <a:r>
              <a:rPr lang="en-US" altLang="zh-TW" sz="1200" dirty="0">
                <a:solidFill>
                  <a:schemeClr val="tx1"/>
                </a:solidFill>
              </a:rPr>
              <a:t>9</a:t>
            </a:r>
            <a:endParaRPr lang="zh-TW" alt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06735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2740A699-BACF-7506-C5B4-2FF6522461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4254" y="1379219"/>
            <a:ext cx="7219226" cy="5395521"/>
          </a:xfrm>
        </p:spPr>
      </p:pic>
      <p:sp>
        <p:nvSpPr>
          <p:cNvPr id="4" name="標題 1">
            <a:extLst>
              <a:ext uri="{FF2B5EF4-FFF2-40B4-BE49-F238E27FC236}">
                <a16:creationId xmlns:a16="http://schemas.microsoft.com/office/drawing/2014/main" id="{6410160C-9556-1B02-5E28-590D49B0E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863" y="609600"/>
            <a:ext cx="8596312" cy="1320800"/>
          </a:xfrm>
        </p:spPr>
        <p:txBody>
          <a:bodyPr/>
          <a:lstStyle/>
          <a:p>
            <a:r>
              <a:rPr lang="en-US" altLang="zh-TW" dirty="0"/>
              <a:t>ER</a:t>
            </a:r>
            <a:r>
              <a:rPr lang="zh-TW" altLang="en-US" dirty="0"/>
              <a:t>圖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F1C36D99-FE25-A60B-F059-DBB5B74CC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2724" y="6196013"/>
            <a:ext cx="683339" cy="365125"/>
          </a:xfrm>
        </p:spPr>
        <p:txBody>
          <a:bodyPr/>
          <a:lstStyle/>
          <a:p>
            <a:r>
              <a:rPr lang="en-US" altLang="zh-TW" sz="1200" dirty="0">
                <a:solidFill>
                  <a:schemeClr val="tx1"/>
                </a:solidFill>
              </a:rPr>
              <a:t>10</a:t>
            </a:r>
            <a:endParaRPr lang="zh-TW" alt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0348608"/>
      </p:ext>
    </p:extLst>
  </p:cSld>
  <p:clrMapOvr>
    <a:masterClrMapping/>
  </p:clrMapOvr>
</p:sld>
</file>

<file path=ppt/theme/theme1.xml><?xml version="1.0" encoding="utf-8"?>
<a:theme xmlns:a="http://schemas.openxmlformats.org/drawingml/2006/main" name="多面向">
  <a:themeElements>
    <a:clrScheme name="氣流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自訂 1">
      <a:majorFont>
        <a:latin typeface="標楷體"/>
        <a:ea typeface="標楷體"/>
        <a:cs typeface=""/>
      </a:majorFont>
      <a:minorFont>
        <a:latin typeface="標楷體"/>
        <a:ea typeface="標楷體"/>
        <a:cs typeface=""/>
      </a:minorFont>
    </a:fontScheme>
    <a:fmtScheme name="多面向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多面向</Template>
  <TotalTime>96</TotalTime>
  <Words>477</Words>
  <Application>Microsoft Office PowerPoint</Application>
  <PresentationFormat>寬螢幕</PresentationFormat>
  <Paragraphs>185</Paragraphs>
  <Slides>11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6" baseType="lpstr">
      <vt:lpstr>標楷體</vt:lpstr>
      <vt:lpstr>Arial</vt:lpstr>
      <vt:lpstr>Calibri</vt:lpstr>
      <vt:lpstr>Wingdings 3</vt:lpstr>
      <vt:lpstr>多面向</vt:lpstr>
      <vt:lpstr> 題目:團購系統  </vt:lpstr>
      <vt:lpstr>應用情境與使用案例 </vt:lpstr>
      <vt:lpstr>PowerPoint 簡報</vt:lpstr>
      <vt:lpstr>系統需求說明</vt:lpstr>
      <vt:lpstr>完整性限制</vt:lpstr>
      <vt:lpstr>PowerPoint 簡報</vt:lpstr>
      <vt:lpstr>PowerPoint 簡報</vt:lpstr>
      <vt:lpstr>PowerPoint 簡報</vt:lpstr>
      <vt:lpstr>PowerPoint 簡報</vt:lpstr>
      <vt:lpstr>PowerPoint 簡報</vt:lpstr>
      <vt:lpstr>ER圖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yuuu._. Y</dc:creator>
  <cp:lastModifiedBy>李彩甄</cp:lastModifiedBy>
  <cp:revision>2</cp:revision>
  <dcterms:created xsi:type="dcterms:W3CDTF">2026-04-24T06:38:50Z</dcterms:created>
  <dcterms:modified xsi:type="dcterms:W3CDTF">2026-04-25T03:57:51Z</dcterms:modified>
</cp:coreProperties>
</file>